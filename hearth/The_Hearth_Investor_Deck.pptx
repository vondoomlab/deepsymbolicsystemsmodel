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Investment (LKR M)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B1810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4A2C1A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6B3F22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8C542A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AD6A38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5"/>
            <c:bubble3D val="0"/>
            <c:spPr>
              <a:solidFill>
                <a:srgbClr val="C77F45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6"/>
            <c:bubble3D val="0"/>
            <c:spPr>
              <a:solidFill>
                <a:srgbClr val="D9945A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7"/>
            <c:bubble3D val="0"/>
            <c:spPr>
              <a:solidFill>
                <a:srgbClr val="E5A876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8"/>
            <c:bubble3D val="0"/>
            <c:spPr>
              <a:solidFill>
                <a:srgbClr val="EFBD97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9"/>
            <c:bubble3D val="0"/>
            <c:spPr>
              <a:solidFill>
                <a:srgbClr val="73461F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0"/>
            <c:bubble3D val="0"/>
            <c:spPr>
              <a:solidFill>
                <a:srgbClr val="B88452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1"/>
            <c:bubble3D val="0"/>
            <c:spPr>
              <a:solidFill>
                <a:srgbClr val="E0C4A8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7"/>
              <c:numFmt formatCode="0%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8"/>
              <c:numFmt formatCode="0%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9"/>
              <c:numFmt formatCode="0%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0"/>
              <c:numFmt formatCode="0%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1"/>
              <c:numFmt formatCode="0%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Sheet1!$A$2:$A$13</c:f>
              <c:strCache>
                <c:ptCount val="12"/>
                <c:pt idx="0">
                  <c:v>Building renovation</c:v>
                </c:pt>
                <c:pt idx="1">
                  <c:v>Hearth kitchen</c:v>
                </c:pt>
                <c:pt idx="2">
                  <c:v>Water garden</c:v>
                </c:pt>
                <c:pt idx="3">
                  <c:v>Furniture</c:v>
                </c:pt>
                <c:pt idx="4">
                  <c:v>Soundproofing</c:v>
                </c:pt>
                <c:pt idx="5">
                  <c:v>Sound &amp; lighting</c:v>
                </c:pt>
                <c:pt idx="6">
                  <c:v>Interior decor</c:v>
                </c:pt>
                <c:pt idx="7">
                  <c:v>Bar equip.</c:v>
                </c:pt>
                <c:pt idx="8">
                  <c:v>Licences &amp; fees</c:v>
                </c:pt>
                <c:pt idx="9">
                  <c:v>F&amp;B stock</c:v>
                </c:pt>
                <c:pt idx="10">
                  <c:v>Marketing</c:v>
                </c:pt>
                <c:pt idx="11">
                  <c:v>Working capital</c:v>
                </c:pt>
              </c:strCache>
            </c:strRef>
          </c:cat>
          <c:val>
            <c:numRef>
              <c:f>Sheet1!$B$2:$B$13</c:f>
              <c:numCache>
                <c:ptCount val="12"/>
                <c:pt idx="0">
                  <c:v>3</c:v>
                </c:pt>
                <c:pt idx="1">
                  <c:v>1.2</c:v>
                </c:pt>
                <c:pt idx="2">
                  <c:v>1.8</c:v>
                </c:pt>
                <c:pt idx="3">
                  <c:v>1.5</c:v>
                </c:pt>
                <c:pt idx="4">
                  <c:v>1.5</c:v>
                </c:pt>
                <c:pt idx="5">
                  <c:v>1</c:v>
                </c:pt>
                <c:pt idx="6">
                  <c:v>1</c:v>
                </c:pt>
                <c:pt idx="7">
                  <c:v>0.6</c:v>
                </c:pt>
                <c:pt idx="8">
                  <c:v>0.5</c:v>
                </c:pt>
                <c:pt idx="9">
                  <c:v>0.5</c:v>
                </c:pt>
                <c:pt idx="10">
                  <c:v>0.6</c:v>
                </c:pt>
                <c:pt idx="11">
                  <c:v>2.3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750">
              <a:solidFill>
                <a:srgbClr val="2B181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Est. Monthly Revenue (LKR M)</c:v>
                </c:pt>
              </c:strCache>
            </c:strRef>
          </c:tx>
          <c:spPr>
            <a:solidFill>
              <a:srgbClr val="B8663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B181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Conservative</c:v>
                  </c:pt>
                  <c:pt idx="1">
                    <c:v>Base</c:v>
                  </c:pt>
                  <c:pt idx="2">
                    <c:v>Strong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10.98</c:v>
                </c:pt>
                <c:pt idx="1">
                  <c:v>19.13</c:v>
                </c:pt>
                <c:pt idx="2">
                  <c:v>35.63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2B181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5A4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D9C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5A4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image" Target="../media/image-1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C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rth_deck/img/logo_cream_t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8556" y="960120"/>
            <a:ext cx="3291840" cy="402036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94960" y="5346242"/>
            <a:ext cx="1399032" cy="0"/>
          </a:xfrm>
          <a:prstGeom prst="line">
            <a:avLst/>
          </a:prstGeom>
          <a:noFill/>
          <a:ln w="12700">
            <a:solidFill>
              <a:srgbClr val="B8663C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0" y="5529122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Overview — Unawatuna, Sri Lanka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0" y="630936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Revenge Capital  ·  Anthony Vondoom, Co-Founder &amp; Concept Lead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3504"/>
            <a:ext cx="109728" cy="109728"/>
          </a:xfrm>
          <a:prstGeom prst="ellipse">
            <a:avLst/>
          </a:prstGeom>
          <a:solidFill>
            <a:srgbClr val="B866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6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culture that ever cooked, cooked over fire.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4884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before gas lines and induction plates, hearth cooking was simply how food was made — patient, fire-fed, tied directly to what the land and sea provided that day. It is one of the few culinary techniques nearly every culture on earth shares.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520440"/>
            <a:ext cx="6675120" cy="0"/>
          </a:xfrm>
          <a:prstGeom prst="line">
            <a:avLst/>
          </a:prstGeom>
          <a:noFill/>
          <a:ln w="12700">
            <a:solidFill>
              <a:srgbClr val="E4D9C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374904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B86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has yet combined this technique with rigorous food-science thinking, professional fine-dining execution, and HACCP / USPH-grade hygiene standards.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863840" y="914400"/>
            <a:ext cx="3749040" cy="4206240"/>
          </a:xfrm>
          <a:prstGeom prst="rect">
            <a:avLst/>
          </a:prstGeom>
          <a:solidFill>
            <a:srgbClr val="FAF5E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183880" y="1188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6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83880" y="1655064"/>
            <a:ext cx="91440" cy="91440"/>
          </a:xfrm>
          <a:prstGeom prst="ellipse">
            <a:avLst/>
          </a:prstGeom>
          <a:solidFill>
            <a:srgbClr val="B8663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0" y="152704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Ancestral technique — treated as nostalgia, not a real kitchen practice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83880" y="2569464"/>
            <a:ext cx="91440" cy="91440"/>
          </a:xfrm>
          <a:prstGeom prst="ellipse">
            <a:avLst/>
          </a:prstGeom>
          <a:solidFill>
            <a:srgbClr val="B8663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12480" y="244144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 food-science thinking — rarely applied to hearth cuisine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83880" y="3483864"/>
            <a:ext cx="91440" cy="91440"/>
          </a:xfrm>
          <a:prstGeom prst="ellipse">
            <a:avLst/>
          </a:prstGeom>
          <a:solidFill>
            <a:srgbClr val="B8663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12480" y="335584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Professional, HACCP/USPH-grade execution — almost never present alongside live fire</a:t>
            </a:r>
            <a:endParaRPr lang="en-US" sz="1250" dirty="0"/>
          </a:p>
        </p:txBody>
      </p:sp>
      <p:pic>
        <p:nvPicPr>
          <p:cNvPr id="16" name="Image 0" descr="/home/claude/hearth_deck/img/icon_b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9728" y="6501384"/>
            <a:ext cx="173736" cy="164345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0030968" y="64922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HEARTH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3504"/>
            <a:ext cx="109728" cy="109728"/>
          </a:xfrm>
          <a:prstGeom prst="ellipse">
            <a:avLst/>
          </a:prstGeom>
          <a:solidFill>
            <a:srgbClr val="B866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6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FOUNDER'S LENS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Untraditionally educated — deliberately so.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Hearth is built by someone who reached this thesis from outside the culinary-school pipeline — as an independent researcher in cognitive archaeology, and as a chef who has worked nearly every station a kitchen and floor can offer.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3611880" cy="3291840"/>
          </a:xfrm>
          <a:prstGeom prst="rect">
            <a:avLst/>
          </a:prstGeom>
          <a:solidFill>
            <a:srgbClr val="FAF5EF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880360"/>
            <a:ext cx="201168" cy="201168"/>
          </a:xfrm>
          <a:prstGeom prst="ellipse">
            <a:avLst/>
          </a:prstGeom>
          <a:solidFill>
            <a:srgbClr val="B8663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2004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Researcher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4904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archaeology, publishing under peer review — most recently in the Journal of Egypt Heritage Association. Brings an academic, evidence-driven lens to a category usually built on instinct alone.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2606040"/>
            <a:ext cx="3611880" cy="3291840"/>
          </a:xfrm>
          <a:prstGeom prst="rect">
            <a:avLst/>
          </a:prstGeom>
          <a:solidFill>
            <a:srgbClr val="FAF5EF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2880360"/>
            <a:ext cx="201168" cy="201168"/>
          </a:xfrm>
          <a:prstGeom prst="ellipse">
            <a:avLst/>
          </a:prstGeom>
          <a:solidFill>
            <a:srgbClr val="B8663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63440" y="32004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Years in Hospitality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74904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major role covered — storekeeping, dishwashing, line cook to pass at Nikki Beach Porto Cervo, a high-volume Princess Cruises pizzeria, and resort chef work in Egypt serving Italian guests food that had to taste like home.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0" y="2606040"/>
            <a:ext cx="3611880" cy="3291840"/>
          </a:xfrm>
          <a:prstGeom prst="rect">
            <a:avLst/>
          </a:prstGeom>
          <a:solidFill>
            <a:srgbClr val="FAF5EF"/>
          </a:solidFill>
          <a:ln/>
        </p:spPr>
      </p:sp>
      <p:sp>
        <p:nvSpPr>
          <p:cNvPr id="15" name="Shape 13"/>
          <p:cNvSpPr/>
          <p:nvPr/>
        </p:nvSpPr>
        <p:spPr>
          <a:xfrm>
            <a:off x="8503920" y="2880360"/>
            <a:ext cx="201168" cy="201168"/>
          </a:xfrm>
          <a:prstGeom prst="ellipse">
            <a:avLst/>
          </a:prstGeom>
          <a:solidFill>
            <a:srgbClr val="B8663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03920" y="32004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Operator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503920" y="374904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concept designed from a distance — leads menu development, kitchen build, and staff training personally through launch.</a:t>
            </a:r>
            <a:endParaRPr lang="en-US" sz="1150" dirty="0"/>
          </a:p>
        </p:txBody>
      </p:sp>
      <p:pic>
        <p:nvPicPr>
          <p:cNvPr id="18" name="Image 0" descr="/home/claude/hearth_deck/img/icon_b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01384"/>
            <a:ext cx="173736" cy="164345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731520" y="64922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HEARTH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1147572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3504"/>
            <a:ext cx="109728" cy="109728"/>
          </a:xfrm>
          <a:prstGeom prst="ellipse">
            <a:avLst/>
          </a:prstGeom>
          <a:solidFill>
            <a:srgbClr val="D8946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9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EC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Hearth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89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"Earth, made with heart."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667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4E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live-fire fine-dining and lounge destination in Unawatuna — Sri Lankan hearth technique handled with Italian precision, hyper-local ingredients, and a day-to-night format that moves from brunch through golden-hour cocktails into hearth-fired dinner and a Sri Lankan-EDM lounge.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886200"/>
            <a:ext cx="128016" cy="128016"/>
          </a:xfrm>
          <a:prstGeom prst="ellipse">
            <a:avLst/>
          </a:prstGeom>
          <a:solidFill>
            <a:srgbClr val="B8663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749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89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057400" y="37490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4E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Hyper-local ingredients, hearth-fired, sourced from this land and coast.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754880"/>
            <a:ext cx="128016" cy="128016"/>
          </a:xfrm>
          <a:prstGeom prst="ellipse">
            <a:avLst/>
          </a:prstGeom>
          <a:solidFill>
            <a:srgbClr val="B8663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4617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89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057400" y="461772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4E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plate is finalized with live fire — some elements are prepped ahead in the kitchen, then finished and portioned at the hearth.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5623560"/>
            <a:ext cx="128016" cy="128016"/>
          </a:xfrm>
          <a:prstGeom prst="ellipse">
            <a:avLst/>
          </a:prstGeom>
          <a:solidFill>
            <a:srgbClr val="B8663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54864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89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057400" y="548640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4E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Humble beginnings offered without apology — hospitality built on care.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863840" y="914400"/>
            <a:ext cx="3749040" cy="5029200"/>
          </a:xfrm>
          <a:prstGeom prst="rect">
            <a:avLst/>
          </a:prstGeom>
          <a:solidFill>
            <a:srgbClr val="3A241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183880" y="1188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89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STANDARD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83880" y="1746504"/>
            <a:ext cx="82296" cy="82296"/>
          </a:xfrm>
          <a:prstGeom prst="ellipse">
            <a:avLst/>
          </a:prstGeom>
          <a:solidFill>
            <a:srgbClr val="B8663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94192" y="1600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4E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World-class dining execution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83880" y="2432304"/>
            <a:ext cx="82296" cy="82296"/>
          </a:xfrm>
          <a:prstGeom prst="ellipse">
            <a:avLst/>
          </a:prstGeom>
          <a:solidFill>
            <a:srgbClr val="B8663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394192" y="22860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4E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HACCP food-safety compliance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83880" y="3118104"/>
            <a:ext cx="82296" cy="82296"/>
          </a:xfrm>
          <a:prstGeom prst="ellipse">
            <a:avLst/>
          </a:prstGeom>
          <a:solidFill>
            <a:srgbClr val="B8663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394192" y="2971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4E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USPH-grade hygiene standard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83880" y="3803904"/>
            <a:ext cx="82296" cy="82296"/>
          </a:xfrm>
          <a:prstGeom prst="ellipse">
            <a:avLst/>
          </a:prstGeom>
          <a:solidFill>
            <a:srgbClr val="B8663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394192" y="36576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4E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CIDA / CEB / SLTDA regulatory mapping already done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183880" y="4489704"/>
            <a:ext cx="82296" cy="82296"/>
          </a:xfrm>
          <a:prstGeom prst="ellipse">
            <a:avLst/>
          </a:prstGeom>
          <a:solidFill>
            <a:srgbClr val="B8663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394192" y="43434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4E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Fire, gas, and electrical safety engineered into construction sequence</a:t>
            </a:r>
            <a:endParaRPr lang="en-US" sz="1200" dirty="0"/>
          </a:p>
        </p:txBody>
      </p:sp>
      <p:pic>
        <p:nvPicPr>
          <p:cNvPr id="28" name="Image 0" descr="/home/claude/hearth_deck/img/icon_cr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9728" y="6501384"/>
            <a:ext cx="173736" cy="164345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10030968" y="64922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8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HEARTH</a:t>
            </a:r>
            <a:endParaRPr lang="en-US" sz="85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109728" cy="109728"/>
          </a:xfrm>
          <a:prstGeom prst="ellipse">
            <a:avLst/>
          </a:prstGeom>
          <a:solidFill>
            <a:srgbClr val="B866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411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6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 direction for the finished space.</a:t>
            </a:r>
            <a:endParaRPr lang="en-US" sz="2000" dirty="0"/>
          </a:p>
        </p:txBody>
      </p:sp>
      <p:pic>
        <p:nvPicPr>
          <p:cNvPr id="5" name="Image 0" descr="/home/claude/hearth_deck/img/decoration_1_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32560"/>
            <a:ext cx="6675120" cy="4450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43800" y="1371600"/>
            <a:ext cx="4069080" cy="4572000"/>
          </a:xfrm>
          <a:prstGeom prst="rect">
            <a:avLst/>
          </a:prstGeom>
          <a:solidFill>
            <a:srgbClr val="FAF5EF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0" y="1691640"/>
            <a:ext cx="201168" cy="201168"/>
          </a:xfrm>
          <a:prstGeom prst="ellipse">
            <a:avLst/>
          </a:prstGeom>
          <a:solidFill>
            <a:srgbClr val="B8663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863840" y="201168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Corridor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2606040"/>
            <a:ext cx="3429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the ground-floor dining areas. Traditional Sri Lankan raksha (devil) masks line the walls on both sides, leading toward a large antique-style map of Sri Lanka as the corridor's focal point. Cane-back dining chairs, perforated pendant lanterns, and warm sconce lighting throughout.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863840" y="5349240"/>
            <a:ext cx="3429000" cy="0"/>
          </a:xfrm>
          <a:prstGeom prst="line">
            <a:avLst/>
          </a:prstGeom>
          <a:noFill/>
          <a:ln w="12700">
            <a:solidFill>
              <a:srgbClr val="E4D9C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863840" y="548640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6B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concept render — design direction, not a finished photograph.</a:t>
            </a:r>
            <a:endParaRPr lang="en-US" sz="950" dirty="0"/>
          </a:p>
        </p:txBody>
      </p:sp>
      <p:pic>
        <p:nvPicPr>
          <p:cNvPr id="12" name="Image 1" descr="/home/claude/hearth_deck/img/icon_b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501384"/>
            <a:ext cx="173736" cy="16434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1520" y="64922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HEARTH</a:t>
            </a:r>
            <a:endParaRPr lang="en-US" sz="850" dirty="0"/>
          </a:p>
        </p:txBody>
      </p:sp>
      <p:sp>
        <p:nvSpPr>
          <p:cNvPr id="14" name="Text 10"/>
          <p:cNvSpPr txBox="1"/>
          <p:nvPr/>
        </p:nvSpPr>
        <p:spPr>
          <a:xfrm>
            <a:off x="1147572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109728" cy="109728"/>
          </a:xfrm>
          <a:prstGeom prst="ellipse">
            <a:avLst/>
          </a:prstGeom>
          <a:solidFill>
            <a:srgbClr val="B866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411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6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2000" dirty="0"/>
          </a:p>
        </p:txBody>
      </p:sp>
      <p:pic>
        <p:nvPicPr>
          <p:cNvPr id="5" name="Image 0" descr="/home/claude/hearth_deck/img/t_17_view_the_hearth_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4755" y="1371600"/>
            <a:ext cx="5002889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43800" y="1371600"/>
            <a:ext cx="4069080" cy="4572000"/>
          </a:xfrm>
          <a:prstGeom prst="rect">
            <a:avLst/>
          </a:prstGeom>
          <a:solidFill>
            <a:srgbClr val="FAF5EF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0" y="1691640"/>
            <a:ext cx="201168" cy="201168"/>
          </a:xfrm>
          <a:prstGeom prst="ellipse">
            <a:avLst/>
          </a:prstGeom>
          <a:solidFill>
            <a:srgbClr val="B8663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863840" y="201168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Lounge Corner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2606040"/>
            <a:ext cx="3429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ground-floor seating nook for casual pre- or post-dinner drinks, set beneath a hand-painted reproduction of Sri Lanka's Sigiriya frescoes. Rattan sofa and armchair seating, a garden-facing window, and a potted areca palm bring natural light and greenery into the room.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863840" y="5349240"/>
            <a:ext cx="3429000" cy="0"/>
          </a:xfrm>
          <a:prstGeom prst="line">
            <a:avLst/>
          </a:prstGeom>
          <a:noFill/>
          <a:ln w="12700">
            <a:solidFill>
              <a:srgbClr val="E4D9C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863840" y="548640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6B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concept render — design direction, not a finished photograph.</a:t>
            </a:r>
            <a:endParaRPr lang="en-US" sz="950" dirty="0"/>
          </a:p>
        </p:txBody>
      </p:sp>
      <p:pic>
        <p:nvPicPr>
          <p:cNvPr id="12" name="Image 1" descr="/home/claude/hearth_deck/img/icon_b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9728" y="6501384"/>
            <a:ext cx="173736" cy="16434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030968" y="64922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HEARTH</a:t>
            </a:r>
            <a:endParaRPr lang="en-US" sz="85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109728" cy="109728"/>
          </a:xfrm>
          <a:prstGeom prst="ellipse">
            <a:avLst/>
          </a:prstGeom>
          <a:solidFill>
            <a:srgbClr val="B866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411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6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2000" dirty="0"/>
          </a:p>
        </p:txBody>
      </p:sp>
      <p:pic>
        <p:nvPicPr>
          <p:cNvPr id="5" name="Image 0" descr="/home/claude/hearth_deck/img/t12_the_hearth_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4755" y="1371600"/>
            <a:ext cx="5002889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43800" y="1371600"/>
            <a:ext cx="4069080" cy="4572000"/>
          </a:xfrm>
          <a:prstGeom prst="rect">
            <a:avLst/>
          </a:prstGeom>
          <a:solidFill>
            <a:srgbClr val="FAF5EF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0" y="1691640"/>
            <a:ext cx="201168" cy="201168"/>
          </a:xfrm>
          <a:prstGeom prst="ellipse">
            <a:avLst/>
          </a:prstGeom>
          <a:solidFill>
            <a:srgbClr val="B8663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863840" y="201168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Tea Heritage Corner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2606040"/>
            <a:ext cx="3429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beside the staircase to the upper floor, this corner is anchored by a full-wall mural of Sri Lanka's tea highlands and a working display of antique brass teapots and kitchenware sourced locally — tying the space's heritage narrative directly into where guests sit and eat.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863840" y="5349240"/>
            <a:ext cx="3429000" cy="0"/>
          </a:xfrm>
          <a:prstGeom prst="line">
            <a:avLst/>
          </a:prstGeom>
          <a:noFill/>
          <a:ln w="12700">
            <a:solidFill>
              <a:srgbClr val="E4D9C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863840" y="548640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6B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concept render — design direction, not a finished photograph.</a:t>
            </a:r>
            <a:endParaRPr lang="en-US" sz="950" dirty="0"/>
          </a:p>
        </p:txBody>
      </p:sp>
      <p:pic>
        <p:nvPicPr>
          <p:cNvPr id="12" name="Image 1" descr="/home/claude/hearth_deck/img/icon_b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501384"/>
            <a:ext cx="173736" cy="16434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1520" y="64922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HEARTH</a:t>
            </a:r>
            <a:endParaRPr lang="en-US" sz="850" dirty="0"/>
          </a:p>
        </p:txBody>
      </p:sp>
      <p:sp>
        <p:nvSpPr>
          <p:cNvPr id="14" name="Text 10"/>
          <p:cNvSpPr txBox="1"/>
          <p:nvPr/>
        </p:nvSpPr>
        <p:spPr>
          <a:xfrm>
            <a:off x="1147572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109728" cy="109728"/>
          </a:xfrm>
          <a:prstGeom prst="ellipse">
            <a:avLst/>
          </a:prstGeom>
          <a:solidFill>
            <a:srgbClr val="B866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411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6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2000" dirty="0"/>
          </a:p>
        </p:txBody>
      </p:sp>
      <p:pic>
        <p:nvPicPr>
          <p:cNvPr id="5" name="Image 0" descr="/home/claude/hearth_deck/img/the_hearth_first_floor_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4755" y="1371600"/>
            <a:ext cx="5002889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43800" y="1371600"/>
            <a:ext cx="4069080" cy="4572000"/>
          </a:xfrm>
          <a:prstGeom prst="rect">
            <a:avLst/>
          </a:prstGeom>
          <a:solidFill>
            <a:srgbClr val="FAF5EF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0" y="1691640"/>
            <a:ext cx="201168" cy="201168"/>
          </a:xfrm>
          <a:prstGeom prst="ellipse">
            <a:avLst/>
          </a:prstGeom>
          <a:solidFill>
            <a:srgbClr val="B8663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863840" y="201168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Main Dining Hall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2606040"/>
            <a:ext cx="3429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seating area for dinner service, upstairs. Traditional masks mounted on red-clay walls, black pendant lighting over each table, and cane-back chairs continue the material language established throughout the ground floor.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863840" y="5349240"/>
            <a:ext cx="3429000" cy="0"/>
          </a:xfrm>
          <a:prstGeom prst="line">
            <a:avLst/>
          </a:prstGeom>
          <a:noFill/>
          <a:ln w="12700">
            <a:solidFill>
              <a:srgbClr val="E4D9C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863840" y="548640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6B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concept render — design direction, not a finished photograph.</a:t>
            </a:r>
            <a:endParaRPr lang="en-US" sz="950" dirty="0"/>
          </a:p>
        </p:txBody>
      </p:sp>
      <p:pic>
        <p:nvPicPr>
          <p:cNvPr id="12" name="Image 1" descr="/home/claude/hearth_deck/img/icon_b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9728" y="6501384"/>
            <a:ext cx="173736" cy="16434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030968" y="64922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HEARTH</a:t>
            </a:r>
            <a:endParaRPr lang="en-US" sz="85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rth_deck/img/the_entrance_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217037"/>
            <a:ext cx="5879592" cy="442392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603504"/>
            <a:ext cx="109728" cy="109728"/>
          </a:xfrm>
          <a:prstGeom prst="ellipse">
            <a:avLst/>
          </a:prstGeom>
          <a:solidFill>
            <a:srgbClr val="B8663C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777240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6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SRI LANKA, WHY NOW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9144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pilot site is already de-risked.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96596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Lanka's tourism and food scene are booming right now, and the two hardest parts of any restaurant launch — securing a site and financing a building — are already done.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063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6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~493 m²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2651760" y="31089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area, existing two-storey building already on it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931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6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~80%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2651760" y="39776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required kitchen equipment already on hand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8006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6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2651760" y="48463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seatable, three floors + outdoor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10819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concept render — the finished direction, not the site's current state.</a:t>
            </a:r>
            <a:endParaRPr lang="en-US" sz="900" dirty="0"/>
          </a:p>
        </p:txBody>
      </p:sp>
      <p:pic>
        <p:nvPicPr>
          <p:cNvPr id="14" name="Image 1" descr="/home/claude/hearth_deck/img/icon_b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501384"/>
            <a:ext cx="173736" cy="16434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31520" y="64922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HEARTH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1147572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3504"/>
            <a:ext cx="109728" cy="109728"/>
          </a:xfrm>
          <a:prstGeom prst="ellipse">
            <a:avLst/>
          </a:prstGeom>
          <a:solidFill>
            <a:srgbClr val="B866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6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co-founder-led launch, a local operating partner.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49240" cy="4206240"/>
          </a:xfrm>
          <a:prstGeom prst="rect">
            <a:avLst/>
          </a:prstGeom>
          <a:solidFill>
            <a:srgbClr val="FAF5E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0574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86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ANTHONY VONDOOM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3774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— Concept Lead, Launch &amp; Culinary Authority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834640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concept development, menu, kitchen build, and hands-on staff training personally through launch — the highest-risk, most execution-dependent phase. Independent researcher in cognitive archaeology with peer-reviewed publication. 15 years across every hospitality role, including Nikki Beach Porto Cervo, Princess Cruises, and resort chef work in Egypt.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launch, continues in an active advisory and culinary-authority role while based in Europe pursuing further food research — the same inquiry this concept is built 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80760" y="1783080"/>
            <a:ext cx="5349240" cy="4206240"/>
          </a:xfrm>
          <a:prstGeom prst="rect">
            <a:avLst/>
          </a:prstGeom>
          <a:solidFill>
            <a:srgbClr val="FAF5E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0" y="20574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86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RANUKA GEEGANAGAGE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3774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— Local Operating Partner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834640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and provides the land and building the project is built on. Established local hospitality operator in Unawatuna, owner of Jungle Beach Cormorant and Cormorant Beach Club — an existing venue portfolio in the exact neighborhood The Hearth opens in.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day-to-day operations post-launch, giving the business a permanent, on-the-ground presence backed by local market knowledge and standing relationships.</a:t>
            </a:r>
            <a:endParaRPr lang="en-US" sz="1200" dirty="0"/>
          </a:p>
        </p:txBody>
      </p:sp>
      <p:pic>
        <p:nvPicPr>
          <p:cNvPr id="13" name="Image 0" descr="/home/claude/hearth_deck/img/icon_b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9728" y="6501384"/>
            <a:ext cx="173736" cy="16434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0030968" y="64922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HEARTH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B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3504"/>
            <a:ext cx="109728" cy="109728"/>
          </a:xfrm>
          <a:prstGeom prst="ellipse">
            <a:avLst/>
          </a:prstGeom>
          <a:solidFill>
            <a:srgbClr val="D8946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9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ALREADY DE-RISKED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EC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isn't a concept looking for a site.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46304" cy="146304"/>
          </a:xfrm>
          <a:prstGeom prst="ellipse">
            <a:avLst/>
          </a:prstGeom>
          <a:solidFill>
            <a:srgbClr val="B8663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71907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89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&amp; building secured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0574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4E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two-storey structure, ~493 m² site, held by the local co-founder's family.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874520"/>
            <a:ext cx="146304" cy="146304"/>
          </a:xfrm>
          <a:prstGeom prst="ellipse">
            <a:avLst/>
          </a:prstGeom>
          <a:solidFill>
            <a:srgbClr val="B8663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10528" y="171907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89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equipment on hand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510528" y="20574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4E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~80% of required equipment already available, reducing build-out capital need.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146304" cy="146304"/>
          </a:xfrm>
          <a:prstGeom prst="ellipse">
            <a:avLst/>
          </a:prstGeom>
          <a:solidFill>
            <a:srgbClr val="B8663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1248" y="313639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89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operator embedded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841248" y="34747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4E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already runs two venues in the same neighborhood.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3291840"/>
            <a:ext cx="146304" cy="146304"/>
          </a:xfrm>
          <a:prstGeom prst="ellipse">
            <a:avLst/>
          </a:prstGeom>
          <a:solidFill>
            <a:srgbClr val="B8663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10528" y="313639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89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execution plan engineered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510528" y="34747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4E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Phase-by-phase construction sequence, hearth-kitchen spec, and electrical/waterproofing plan already written.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709160"/>
            <a:ext cx="146304" cy="146304"/>
          </a:xfrm>
          <a:prstGeom prst="ellipse">
            <a:avLst/>
          </a:prstGeom>
          <a:solidFill>
            <a:srgbClr val="B8663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1248" y="455371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89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pathway mapped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841248" y="48920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4E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Lankan fire, gas, electrical, noise, and tourism-licensing requirements identified and sourced, not guessed.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4709160"/>
            <a:ext cx="146304" cy="146304"/>
          </a:xfrm>
          <a:prstGeom prst="ellipse">
            <a:avLst/>
          </a:prstGeom>
          <a:solidFill>
            <a:srgbClr val="B8663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10528" y="455371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89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Founder-led training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510528" y="48920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4E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trained personally by the founder before opening, not delegated sight unseen.</a:t>
            </a:r>
            <a:endParaRPr lang="en-US" sz="1100" dirty="0"/>
          </a:p>
        </p:txBody>
      </p:sp>
      <p:pic>
        <p:nvPicPr>
          <p:cNvPr id="23" name="Image 0" descr="/home/claude/hearth_deck/img/icon_cr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01384"/>
            <a:ext cx="173736" cy="164345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731520" y="64922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8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HEARTH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1147572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109728" cy="109728"/>
          </a:xfrm>
          <a:prstGeom prst="ellipse">
            <a:avLst/>
          </a:prstGeom>
          <a:solidFill>
            <a:srgbClr val="B866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411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6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&amp; ECONOMICS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B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capital goes, what it returns.</a:t>
            </a:r>
            <a:endParaRPr lang="en-US" sz="2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B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is a market-derived estimate — built from Sri Lanka's current premium dining landscape and 15 years of hospitality pricing experience — pending final menu costing on-site.</a:t>
            </a:r>
            <a:endParaRPr lang="en-US" sz="10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645920"/>
          <a:ext cx="548640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365760" y="4224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6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Allocation — LKR 15.5M (~$46,100)</a:t>
            </a:r>
            <a:endParaRPr lang="en-US" sz="10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263640" y="1645920"/>
          <a:ext cx="539496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263640" y="422452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6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Scenarios — LKR Millions / month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48640" y="4617720"/>
            <a:ext cx="11064240" cy="0"/>
          </a:xfrm>
          <a:prstGeom prst="line">
            <a:avLst/>
          </a:prstGeom>
          <a:noFill/>
          <a:ln w="12700">
            <a:solidFill>
              <a:srgbClr val="E4D9CB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48640" y="48006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86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LKR 15.5M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53035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build-out (~$46,100)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3337560" y="48006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86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$8,000</a:t>
            </a:r>
            <a:endParaRPr lang="en-US" sz="2100" dirty="0"/>
          </a:p>
        </p:txBody>
      </p:sp>
      <p:sp>
        <p:nvSpPr>
          <p:cNvPr id="14" name="Text 10"/>
          <p:cNvSpPr txBox="1"/>
          <p:nvPr/>
        </p:nvSpPr>
        <p:spPr>
          <a:xfrm>
            <a:off x="3337560" y="53035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Self-funded by Anthony &amp; Ranuka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6126480" y="48006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86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~$38,100</a:t>
            </a:r>
            <a:endParaRPr lang="en-US" sz="2100" dirty="0"/>
          </a:p>
        </p:txBody>
      </p:sp>
      <p:sp>
        <p:nvSpPr>
          <p:cNvPr id="16" name="Text 12"/>
          <p:cNvSpPr txBox="1"/>
          <p:nvPr/>
        </p:nvSpPr>
        <p:spPr>
          <a:xfrm>
            <a:off x="6126480" y="53035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ask (~LKR 12.8M)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8915400" y="48006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86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~18–19/day</a:t>
            </a:r>
            <a:endParaRPr lang="en-US" sz="2100" dirty="0"/>
          </a:p>
        </p:txBody>
      </p:sp>
      <p:sp>
        <p:nvSpPr>
          <p:cNvPr id="18" name="Text 14"/>
          <p:cNvSpPr txBox="1"/>
          <p:nvPr/>
        </p:nvSpPr>
        <p:spPr>
          <a:xfrm>
            <a:off x="8915400" y="53035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Base-case break-even covers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6B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biggest open variable is hotel-to-restaurant conversion rate, not yet benchmarked against a comparable venue — treat revenue figures as a range, not a commitment. ~336 LKR/$1 used throughout.</a:t>
            </a:r>
            <a:endParaRPr lang="en-US" sz="950" dirty="0"/>
          </a:p>
        </p:txBody>
      </p:sp>
      <p:pic>
        <p:nvPicPr>
          <p:cNvPr id="20" name="Image 0" descr="/home/claude/hearth_deck/img/icon_b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9728" y="6501384"/>
            <a:ext cx="173736" cy="16434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0030968" y="64922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HEARTH</a:t>
            </a:r>
            <a:endParaRPr lang="en-US" sz="85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B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3504"/>
            <a:ext cx="109728" cy="109728"/>
          </a:xfrm>
          <a:prstGeom prst="ellipse">
            <a:avLst/>
          </a:prstGeom>
          <a:solidFill>
            <a:srgbClr val="D8946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9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SCALE STORY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C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Sri Lanka is the pilot. Not the ceiling.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6766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4E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Hearth cooking is not a Sri Lankan curiosity — it is one of the most universal cooking methods on earth. Nearly every culture with a traditional cuisine has, at some point, cooked this way. The Hearth's format — ancestral technique, modern food-science rigor, professional execution — is built to be proven once and replicated anywhere that history applies.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4904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D89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investment thesis: not a single restaurant's P&amp;L, but a repeatable dining format with a defensible research foundation behind it — validated in one market before expanding into the next.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863840" y="960120"/>
            <a:ext cx="3749040" cy="4892040"/>
          </a:xfrm>
          <a:prstGeom prst="rect">
            <a:avLst/>
          </a:prstGeom>
          <a:solidFill>
            <a:srgbClr val="3A241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183880" y="1234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89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TRAVELS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183880" y="1746504"/>
            <a:ext cx="91440" cy="91440"/>
          </a:xfrm>
          <a:prstGeom prst="ellipse">
            <a:avLst/>
          </a:prstGeom>
          <a:solidFill>
            <a:srgbClr val="B8663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412480" y="161848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4E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&amp; Southeast Asia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83880" y="2404872"/>
            <a:ext cx="91440" cy="91440"/>
          </a:xfrm>
          <a:prstGeom prst="ellipse">
            <a:avLst/>
          </a:prstGeom>
          <a:solidFill>
            <a:srgbClr val="B8663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12480" y="227685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4E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Mediterranean &amp; Middle East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83880" y="3063240"/>
            <a:ext cx="91440" cy="91440"/>
          </a:xfrm>
          <a:prstGeom prst="ellipse">
            <a:avLst/>
          </a:prstGeom>
          <a:solidFill>
            <a:srgbClr val="B8663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12480" y="293522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4E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Latin America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83880" y="3721608"/>
            <a:ext cx="91440" cy="91440"/>
          </a:xfrm>
          <a:prstGeom prst="ellipse">
            <a:avLst/>
          </a:prstGeom>
          <a:solidFill>
            <a:srgbClr val="B8663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0" y="359359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4E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&amp; East Africa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83880" y="4379976"/>
            <a:ext cx="91440" cy="91440"/>
          </a:xfrm>
          <a:prstGeom prst="ellipse">
            <a:avLst/>
          </a:prstGeom>
          <a:solidFill>
            <a:srgbClr val="B8663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12480" y="42519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4E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broader Nordic and Alpine hearth tradition</a:t>
            </a:r>
            <a:endParaRPr lang="en-US" sz="1250" dirty="0"/>
          </a:p>
        </p:txBody>
      </p:sp>
      <p:pic>
        <p:nvPicPr>
          <p:cNvPr id="19" name="Image 0" descr="/home/claude/hearth_deck/img/icon_cr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01384"/>
            <a:ext cx="173736" cy="164345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731520" y="64922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8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HEARTH</a:t>
            </a:r>
            <a:endParaRPr lang="en-US" sz="850" dirty="0"/>
          </a:p>
        </p:txBody>
      </p:sp>
      <p:sp>
        <p:nvSpPr>
          <p:cNvPr id="21" name="Text 18"/>
          <p:cNvSpPr txBox="1"/>
          <p:nvPr/>
        </p:nvSpPr>
        <p:spPr>
          <a:xfrm>
            <a:off x="1147572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3504"/>
            <a:ext cx="109728" cy="109728"/>
          </a:xfrm>
          <a:prstGeom prst="ellipse">
            <a:avLst/>
          </a:prstGeom>
          <a:solidFill>
            <a:srgbClr val="B866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6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sequenced build, not a guess.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457200" cy="457200"/>
          </a:xfrm>
          <a:prstGeom prst="ellipse">
            <a:avLst/>
          </a:prstGeom>
          <a:solidFill>
            <a:srgbClr val="B8663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2514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86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2788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Strip &amp; Secure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320040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cleared, salvageable heritage materials preserved.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51560" y="2194560"/>
            <a:ext cx="2331720" cy="0"/>
          </a:xfrm>
          <a:prstGeom prst="line">
            <a:avLst/>
          </a:prstGeom>
          <a:noFill/>
          <a:ln w="19050">
            <a:solidFill>
              <a:srgbClr val="E4D9CB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337560" y="1965960"/>
            <a:ext cx="457200" cy="457200"/>
          </a:xfrm>
          <a:prstGeom prst="ellipse">
            <a:avLst/>
          </a:prstGeom>
          <a:solidFill>
            <a:srgbClr val="B8663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3375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200400" y="2514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86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200400" y="2788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Rough-In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200400" y="320040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Contractors &amp; electricians work concurrently — all wiring and conduit placed before any finish.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40480" y="2194560"/>
            <a:ext cx="2331720" cy="0"/>
          </a:xfrm>
          <a:prstGeom prst="line">
            <a:avLst/>
          </a:prstGeom>
          <a:noFill/>
          <a:ln w="19050">
            <a:solidFill>
              <a:srgbClr val="E4D9CB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6126480" y="1965960"/>
            <a:ext cx="457200" cy="457200"/>
          </a:xfrm>
          <a:prstGeom prst="ellipse">
            <a:avLst/>
          </a:prstGeom>
          <a:solidFill>
            <a:srgbClr val="B8663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1264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989320" y="2514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86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989320" y="2788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Finishes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989320" y="320040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Mudbrick and red-clay wall finishes applied over a completed, tested electrical layer.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29400" y="2194560"/>
            <a:ext cx="2331720" cy="0"/>
          </a:xfrm>
          <a:prstGeom prst="line">
            <a:avLst/>
          </a:prstGeom>
          <a:noFill/>
          <a:ln w="19050">
            <a:solidFill>
              <a:srgbClr val="E4D9CB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8915400" y="1965960"/>
            <a:ext cx="457200" cy="457200"/>
          </a:xfrm>
          <a:prstGeom prst="ellipse">
            <a:avLst/>
          </a:prstGeom>
          <a:solidFill>
            <a:srgbClr val="B8663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9154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778240" y="2514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86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778240" y="2788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Fit-Out &amp; Trial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778240" y="320040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Outdoor kitchens, lighting, furniture complete — followed by a full trial service run before opening.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846320"/>
            <a:ext cx="11064240" cy="0"/>
          </a:xfrm>
          <a:prstGeom prst="line">
            <a:avLst/>
          </a:prstGeom>
          <a:noFill/>
          <a:ln w="12700">
            <a:solidFill>
              <a:srgbClr val="E4D9C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5074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6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opening: December 26, 2026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5778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6B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water garden — the site's most distinctive feature — begins once the team is physically on-site, since its construction depends on real site grade rather than a remote spec.</a:t>
            </a:r>
            <a:endParaRPr lang="en-US" sz="1150" dirty="0"/>
          </a:p>
        </p:txBody>
      </p:sp>
      <p:pic>
        <p:nvPicPr>
          <p:cNvPr id="31" name="Image 0" descr="/home/claude/hearth_deck/img/icon_b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9728" y="6501384"/>
            <a:ext cx="173736" cy="164345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10030968" y="64922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HEARTH</a:t>
            </a:r>
            <a:endParaRPr lang="en-US" sz="850" dirty="0"/>
          </a:p>
        </p:txBody>
      </p:sp>
      <p:sp>
        <p:nvSpPr>
          <p:cNvPr id="33" name="Text 30"/>
          <p:cNvSpPr txBox="1"/>
          <p:nvPr/>
        </p:nvSpPr>
        <p:spPr>
          <a:xfrm>
            <a:off x="54864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8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B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3504"/>
            <a:ext cx="109728" cy="109728"/>
          </a:xfrm>
          <a:prstGeom prst="ellipse">
            <a:avLst/>
          </a:prstGeom>
          <a:solidFill>
            <a:srgbClr val="D8946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9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4EC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humble ask for the rest.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6675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4E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Anthony and Ranuka can self-fund roughly $8,000 of this build between them. The Hearth already has land, a building, and partial equipment — what's presented here, humbly, is the opportunity to fund the remaining ~$38,100 needed to complete construction, finish licensing, and open at the standard the concept deserves, rather than a compromised version of it.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7764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D89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and equity are open for discussion — no fixed terms are set at this stage. Open to a conversation on what a fit looks like for Revenge Capital.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863840" y="960120"/>
            <a:ext cx="3749040" cy="4480560"/>
          </a:xfrm>
          <a:prstGeom prst="rect">
            <a:avLst/>
          </a:prstGeom>
          <a:solidFill>
            <a:srgbClr val="3A241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183880" y="1234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89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183880" y="1783080"/>
            <a:ext cx="109728" cy="109728"/>
          </a:xfrm>
          <a:prstGeom prst="ellipse">
            <a:avLst/>
          </a:prstGeom>
          <a:solidFill>
            <a:srgbClr val="B8663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412480" y="16459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E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completion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412480" y="193852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Hearth kitchen, water garden, finishes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83880" y="2560320"/>
            <a:ext cx="109728" cy="109728"/>
          </a:xfrm>
          <a:prstGeom prst="ellipse">
            <a:avLst/>
          </a:prstGeom>
          <a:solidFill>
            <a:srgbClr val="B8663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12480" y="24231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E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&amp; compliance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271576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Fire, LPG, electrical, noise, tourism registration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83880" y="3337560"/>
            <a:ext cx="109728" cy="109728"/>
          </a:xfrm>
          <a:prstGeom prst="ellipse">
            <a:avLst/>
          </a:prstGeom>
          <a:solidFill>
            <a:srgbClr val="B8663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0" y="32004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E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execution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349300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training, trial service, soft-opening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83880" y="4114800"/>
            <a:ext cx="109728" cy="109728"/>
          </a:xfrm>
          <a:prstGeom prst="ellipse">
            <a:avLst/>
          </a:prstGeom>
          <a:solidFill>
            <a:srgbClr val="B8663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412480" y="39776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E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427024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F&amp;B stock, contingency</a:t>
            </a:r>
            <a:endParaRPr lang="en-US" sz="1050" dirty="0"/>
          </a:p>
        </p:txBody>
      </p:sp>
      <p:pic>
        <p:nvPicPr>
          <p:cNvPr id="21" name="Image 0" descr="/home/claude/hearth_deck/img/icon_cr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01384"/>
            <a:ext cx="173736" cy="164345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731520" y="64922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8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HEARTH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147572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B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rth_deck/img/backg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34156" y="320040"/>
            <a:ext cx="5120640" cy="5120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5623560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EC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0" y="608076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Anthony Vondoom  ·  anthony.vondoom@outlook.com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2026-09-22T19:52:05Z</dcterms:created>
  <dcterms:modified xsi:type="dcterms:W3CDTF">2026-09-22T19:52:05Z</dcterms:modified>
</cp:coreProperties>
</file>